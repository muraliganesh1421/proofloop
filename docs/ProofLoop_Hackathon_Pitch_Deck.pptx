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5912" cy="36576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97280" cy="1097280"/>
          </a:xfrm>
          <a:prstGeom prst="roundRect">
            <a:avLst/>
          </a:prstGeom>
          <a:solidFill>
            <a:srgbClr val="2A2000"/>
          </a:solidFill>
          <a:ln w="25400">
            <a:solidFill>
              <a:srgbClr val="FF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C700"/>
                </a:solidFill>
              </a:defRPr>
            </a:pPr>
            <a: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8FAFC"/>
                </a:solidFill>
              </a:defRPr>
            </a:pPr>
            <a:r>
              <a:t>ProofLoop</a:t>
            </a:r>
          </a:p>
          <a:p>
            <a:pPr>
              <a:defRPr sz="2200" b="1">
                <a:solidFill>
                  <a:srgbClr val="FFC700"/>
                </a:solidFill>
              </a:defRPr>
            </a:pPr>
            <a:r>
              <a:t>Don't just learn it. Prove it.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multimodal AI reasoning engine that replaces passive learning with verifiable proof of mastery.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725912" cy="1645920"/>
          </a:xfrm>
          <a:prstGeom prst="roundRect">
            <a:avLst/>
          </a:prstGeom>
          <a:solidFill>
            <a:srgbClr val="131823"/>
          </a:solidFill>
          <a:ln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HACKATHON SUBMISSION HIGHLIGHTS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• Live Web Prototype: https://muraliganesh1421.github.io/ProofLoop/</a:t>
            </a:r>
            <a:br/>
            <a:r>
              <a:t>• Native App: Kotlin 2.2 · Jetpack Compose · Material 3 · Gemini AI · DataStore</a:t>
            </a:r>
            <a:br/>
            <a:r>
              <a:t>• Core Feature: 4-Step Loop (Observe, Ask, Hypothesize, Defend) + Cryptographic Proof Cards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700"/>
                </a:solidFill>
              </a:defRPr>
            </a:pPr>
            <a:r>
              <a:t>PROOFLOOP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Critical Flaw in Modern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31823"/>
          </a:solidFill>
          <a:ln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4D4F"/>
                </a:solidFill>
              </a:defRPr>
            </a:pPr>
            <a:r>
              <a:t>🚨  85% ABANDONMENT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The Passive Consumption Trap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Learners watch tutorials or videos passively without retaining practical problem-solving ability. Knowledge fades within 48 hours without active struggle or inquiry.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131823"/>
          </a:solidFill>
          <a:ln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4D4F"/>
                </a:solidFill>
              </a:defRPr>
            </a:pPr>
            <a:r>
              <a:t>❌  SURFACE-LEVEL SIGNALS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The Guessable Quiz Illusion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Multiple-choice quizzes reward pattern-matching and guessing. They cannot evaluate if a student understands edge cases, boundary invariants, or system failure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389120"/>
          </a:xfrm>
          <a:prstGeom prst="roundRect">
            <a:avLst/>
          </a:prstGeom>
          <a:solidFill>
            <a:srgbClr val="131823"/>
          </a:solidFill>
          <a:ln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4D4F"/>
                </a:solidFill>
              </a:defRPr>
            </a:pPr>
            <a:r>
              <a:t>📉  UNPROVEN COMPETENCY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Lack of Verifiable Evidence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Resumes claim technical skills with zero verifiable proof. Evaluators and hiring managers must conduct repetitive interviews because certifications lack authentic reasoning artifacts.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700"/>
                </a:solidFill>
              </a:defRPr>
            </a:pPr>
            <a:r>
              <a:t>PROOFLOOP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ProofLoop: Turn Learning into Verifiable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097280"/>
          </a:xfrm>
          <a:prstGeom prst="roundRect">
            <a:avLst/>
          </a:prstGeom>
          <a:solidFill>
            <a:srgbClr val="2A2000"/>
          </a:solidFill>
          <a:ln>
            <a:solidFill>
              <a:srgbClr val="FF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700"/>
                </a:solidFill>
              </a:defRPr>
            </a:pPr>
            <a:r>
              <a:t>CORE PARADIGM SHIFT: ACTION OVER RECITATION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Instead of watching or guessing, learners must observe real environments, interview stakeholders, formulate hypotheses, and verbally defend their solution against adaptive AI challenge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328416" cy="3200400"/>
          </a:xfrm>
          <a:prstGeom prst="roundRect">
            <a:avLst/>
          </a:prstGeom>
          <a:solidFill>
            <a:srgbClr val="131823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Pillar 01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Multimodal Inquiry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Camera vision captures physical or architectural problems. Real-time speech-to-text captures spontaneous verbal defense.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017520"/>
            <a:ext cx="3328416" cy="3200400"/>
          </a:xfrm>
          <a:prstGeom prst="roundRect">
            <a:avLst/>
          </a:prstGeom>
          <a:solidFill>
            <a:srgbClr val="131823"/>
          </a:solidFill>
          <a:ln>
            <a:solidFill>
              <a:srgbClr val="FF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C700"/>
                </a:solidFill>
              </a:defRPr>
            </a:pPr>
            <a:r>
              <a:t>Pillar 02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Adaptive AI Scaffolding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Gemini 1.5 Flash challenges assumptions dynamically ('Why wouldn't adding a cashier fix this?').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017520"/>
            <a:ext cx="3328416" cy="3200400"/>
          </a:xfrm>
          <a:prstGeom prst="roundRect">
            <a:avLst/>
          </a:prstGeom>
          <a:solidFill>
            <a:srgbClr val="131823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Pillar 03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Cryptographic Proof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Issues tamper-proof Proof Cards with SHA-256 hashes, skill radar metrics, and instant share sheets.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700"/>
                </a:solidFill>
              </a:defRPr>
            </a:pPr>
            <a:r>
              <a:t>PROOFLOOP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4-Stage Learning Loop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31823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STEP 01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OBSERVE</a:t>
            </a:r>
          </a:p>
          <a:p>
            <a:pPr>
              <a:defRPr sz="1150">
                <a:solidFill>
                  <a:srgbClr val="00E5FF"/>
                </a:solidFill>
              </a:defRPr>
            </a:pPr>
            <a:r>
              <a:t>Visual Context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Student inspects the environment through simulated camera viewfinder. Identifies bottlenecks in retail queues or concurrency 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31823"/>
          </a:solidFill>
          <a:ln>
            <a:solidFill>
              <a:srgbClr val="FF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700"/>
                </a:solidFill>
              </a:defRPr>
            </a:pPr>
            <a:r>
              <a:t>STEP 02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ASK</a:t>
            </a:r>
          </a:p>
          <a:p>
            <a:pPr>
              <a:defRPr sz="1150">
                <a:solidFill>
                  <a:srgbClr val="FFC700"/>
                </a:solidFill>
              </a:defRPr>
            </a:pPr>
            <a:r>
              <a:t>Stakeholder Inquiry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Student conducts voice investigation and interviews to uncover hidden variables, separating superficial symptoms from root defects.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31823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676"/>
                </a:solidFill>
              </a:defRPr>
            </a:pPr>
            <a:r>
              <a:t>STEP 03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HYPOTHESIZE</a:t>
            </a:r>
          </a:p>
          <a:p>
            <a:pPr>
              <a:defRPr sz="1150">
                <a:solidFill>
                  <a:srgbClr val="00E676"/>
                </a:solidFill>
              </a:defRPr>
            </a:pPr>
            <a:r>
              <a:t>Systemic Solution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Student synthesizes findings and commits to a specific technical mitigation plan, explaining its theoretical correctness.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31823"/>
          </a:solidFill>
          <a:ln>
            <a:solidFill>
              <a:srgbClr val="FF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4D4F"/>
                </a:solidFill>
              </a:defRPr>
            </a:pPr>
            <a:r>
              <a:t>STEP 04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DEFEND</a:t>
            </a:r>
          </a:p>
          <a:p>
            <a:pPr>
              <a:defRPr sz="1150">
                <a:solidFill>
                  <a:srgbClr val="FF4D4F"/>
                </a:solidFill>
              </a:defRPr>
            </a:pPr>
            <a:r>
              <a:t>Adaptive AI Counter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Gemini challenges assumptions ('Why not just scale workers?'). Student verbally articulates invariant defense.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700"/>
                </a:solidFill>
              </a:defRPr>
            </a:pPr>
            <a:r>
              <a:t>PROOFLOOP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Multistage AI Competency Diagnostic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31823"/>
          </a:solidFill>
          <a:ln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700"/>
                </a:solidFill>
              </a:defRPr>
            </a:pPr>
            <a:r>
              <a:t>5-DIMENSION COMPETENCY MAPPING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Problem Framing [88%]: Identified operational bottleneck accurately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Question Quality [74%]: Stakeholder inquiry targeted relevant variables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Root-Cause Reasoning [61%]: WEAKEST: Glossed over approval keycard dependency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Communication [84%]: Clear verbal articulation and confidence</a:t>
            </a:r>
          </a:p>
          <a:p>
            <a:br/>
            <a:pPr>
              <a:defRPr sz="1150">
                <a:solidFill>
                  <a:srgbClr val="F8FAFC"/>
                </a:solidFill>
              </a:defRPr>
            </a:pPr>
            <a:r>
              <a:t>• Decision Quality [79%]: Proposed handheld solution was technically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1737360"/>
            <a:ext cx="5120640" cy="4480560"/>
          </a:xfrm>
          <a:prstGeom prst="roundRect">
            <a:avLst/>
          </a:prstGeom>
          <a:solidFill>
            <a:srgbClr val="131823"/>
          </a:solidFill>
          <a:ln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TARGETED CORRECTIVE RETRY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Instead of failing the student or showing an answer key, ProofLoop immediately launches a Corrective Mission targeted exclusively at their weakest competency:</a:t>
            </a:r>
            <a:br/>
          </a:p>
          <a:p>
            <a:pPr>
              <a:defRPr sz="1300" b="1">
                <a:solidFill>
                  <a:srgbClr val="FFC700"/>
                </a:solidFill>
              </a:defRPr>
            </a:pPr>
            <a:r>
              <a:t>"Before choosing a solution, identify 2 possible causes and explain how you would test each."</a:t>
            </a:r>
          </a:p>
          <a:p>
            <a:br/>
            <a:pPr>
              <a:defRPr sz="1250">
                <a:solidFill>
                  <a:srgbClr val="00E676"/>
                </a:solidFill>
              </a:defRPr>
            </a:pPr>
            <a:r>
              <a:t>Outcome:</a:t>
            </a:r>
            <a:br/>
            <a:r>
              <a:t>• Initial Score: 61% (Superficial reasoning)</a:t>
            </a:r>
            <a:br/>
            <a:r>
              <a:t>• Corrective Score: 78% (Evidence-driven)</a:t>
            </a:r>
            <a:br/>
            <a:r>
              <a:t>• Net Delta: +17% verified learning lift!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700"/>
                </a:solidFill>
              </a:defRPr>
            </a:pPr>
            <a:r>
              <a:t>PROOFLOOP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Tamper-Proof Evidence: The Proof 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0141E"/>
          </a:solidFill>
          <a:ln w="25400">
            <a:solidFill>
              <a:srgbClr val="FF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C700"/>
                </a:solidFill>
              </a:defRPr>
            </a:pPr>
            <a:r>
              <a:t>🛡️ PROOFLOOP VERIFIED CREDENTIAL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Retail Queue Bottleneck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Earner: Murali Ganesh</a:t>
            </a:r>
            <a:br/>
            <a:r>
              <a:t>Date: September 2026</a:t>
            </a:r>
            <a:br/>
            <a:r>
              <a:t>Cryptographic Hash: 0x8F2A...E91C</a:t>
            </a:r>
            <a:br/>
          </a:p>
          <a:p>
            <a:pPr>
              <a:defRPr sz="1200">
                <a:solidFill>
                  <a:srgbClr val="00E5FF"/>
                </a:solidFill>
              </a:defRPr>
            </a:pPr>
            <a:r>
              <a:t>VERIFIED CAPABILITIES:</a:t>
            </a:r>
            <a:br/>
            <a:r>
              <a:t>✓ Application: 78%</a:t>
            </a:r>
            <a:br/>
            <a:r>
              <a:t>✓ Reasoning: 78%</a:t>
            </a:r>
            <a:br/>
            <a:r>
              <a:t>✓ Communication: 84%</a:t>
            </a:r>
            <a:br/>
            <a:r>
              <a:t>✓ Dual-Cause Test Plan Formulated</a:t>
            </a:r>
            <a:br/>
            <a:r>
              <a:t>✓ Invariant Defense Sustained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792" y="1737360"/>
            <a:ext cx="5120640" cy="4480560"/>
          </a:xfrm>
          <a:prstGeom prst="roundRect">
            <a:avLst/>
          </a:prstGeom>
          <a:solidFill>
            <a:srgbClr val="131823"/>
          </a:solidFill>
          <a:ln>
            <a:solidFill>
              <a:srgbClr val="22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WHY PROOF CARDS MATTER</a:t>
            </a:r>
          </a:p>
          <a:p>
            <a:br/>
            <a:pPr>
              <a:defRPr sz="1400" b="1">
                <a:solidFill>
                  <a:srgbClr val="F8FAFC"/>
                </a:solidFill>
              </a:defRPr>
            </a:pPr>
            <a:r>
              <a:t>• For Learners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Proof Cards replace fuzzy claims with verifiable demonstration portfolios that can be shared on LinkedIn, Discord, or resumes.</a:t>
            </a:r>
          </a:p>
          <a:p>
            <a:br/>
            <a:pPr>
              <a:defRPr sz="1400" b="1">
                <a:solidFill>
                  <a:srgbClr val="F8FAFC"/>
                </a:solidFill>
              </a:defRPr>
            </a:pPr>
            <a:r>
              <a:t>• For Educators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Replaces manual grading of spoken defenses with automated multimodal evaluation that scales to millions of students.</a:t>
            </a:r>
          </a:p>
          <a:p>
            <a:br/>
            <a:pPr>
              <a:defRPr sz="1400" b="1">
                <a:solidFill>
                  <a:srgbClr val="F8FAFC"/>
                </a:solidFill>
              </a:defRPr>
            </a:pPr>
            <a:r>
              <a:t>• For Employers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Provides cryptographic assurance that a candidate can defend solutions under questioning before interviewing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700"/>
                </a:solidFill>
              </a:defRPr>
            </a:pPr>
            <a:r>
              <a:t>PROOFLOOP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Engineering Architecture &amp;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31823"/>
          </a:solidFill>
          <a:ln>
            <a:solidFill>
              <a:srgbClr val="FF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C700"/>
                </a:solidFill>
              </a:defRPr>
            </a:pPr>
            <a:r>
              <a:t>KOTLIN 2.2 · JETPACK COMPOSE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Native Android Core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Declarative UI using Material 3</a:t>
            </a:r>
            <a:br/>
            <a:r>
              <a:t>• Local-first architecture (SessionManager via DataStore)</a:t>
            </a:r>
            <a:br/>
            <a:r>
              <a:t>• Single-activity with Navigation 3</a:t>
            </a:r>
            <a:br/>
            <a:r>
              <a:t>• Crash-proof speech lifecycle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31823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E5FF"/>
                </a:solidFill>
              </a:defRPr>
            </a:pPr>
            <a:r>
              <a:t>GEMINI 1.5 FLASH + FALLBACK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Multimodal AI Pipeline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6-second guaranteed evaluation window</a:t>
            </a:r>
            <a:br/>
            <a:r>
              <a:t>• Camera context ingestion</a:t>
            </a:r>
            <a:br/>
            <a:r>
              <a:t>• Automated JSON response sanitizer</a:t>
            </a:r>
            <a:br/>
            <a:r>
              <a:t>• DemoAiService fallback (100% offline capability)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31823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E676"/>
                </a:solidFill>
              </a:defRPr>
            </a:pPr>
            <a:r>
              <a:t>BUILT FOR JUDGES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Zero-Friction Review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Reviewer Bypass Mode: 1-tap demo access</a:t>
            </a:r>
            <a:br/>
            <a:r>
              <a:t>• Zero API key or network setup needed</a:t>
            </a:r>
            <a:br/>
            <a:r>
              <a:t>• Interactive Web Prototype deployed on GitHub Pages</a:t>
            </a:r>
            <a:br/>
            <a:r>
              <a:t>• Full APK ready for on-device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700"/>
                </a:solidFill>
              </a:defRPr>
            </a:pPr>
            <a:r>
              <a:t>PROOFLOOP ·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Live Prototype &amp; Submission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480560"/>
          </a:xfrm>
          <a:prstGeom prst="roundRect">
            <a:avLst/>
          </a:prstGeom>
          <a:solidFill>
            <a:srgbClr val="131823"/>
          </a:solidFill>
          <a:ln>
            <a:solidFill>
              <a:srgbClr val="FF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C700"/>
                </a:solidFill>
              </a:defRPr>
            </a:pPr>
            <a:r>
              <a:t>OFFICIAL HACKATHON SUBMISSION LINKS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1. Interactive Clickable Web Prototype (Mobile Optimized):</a:t>
            </a:r>
          </a:p>
          <a:p>
            <a:pPr>
              <a:defRPr sz="1500" b="1">
                <a:solidFill>
                  <a:srgbClr val="00E5FF"/>
                </a:solidFill>
              </a:defRPr>
            </a:pPr>
            <a:r>
              <a:t>👉 https://muraliganesh1421.github.io/ProofLoop/</a:t>
            </a:r>
            <a:b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2. Full Source Code &amp; Android Project Repository:</a:t>
            </a:r>
          </a:p>
          <a:p>
            <a:pPr>
              <a:defRPr sz="1500" b="1">
                <a:solidFill>
                  <a:srgbClr val="FFC700"/>
                </a:solidFill>
              </a:defRPr>
            </a:pPr>
            <a:r>
              <a:t>👉 https://github.com/muraliganesh1421/ProofLoop</a:t>
            </a:r>
            <a:b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3. Compiled Android APK for On-Device Verification: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Package: com.example.proofloop (SDK 35 · 23.6 MB)</a:t>
            </a:r>
            <a:br/>
            <a:r>
              <a:t>• Location: D:\proofloop\app\build\outputs\apk\debug\app-debug.apk</a:t>
            </a:r>
            <a:br/>
            <a:r>
              <a:t>• Zero-Config: Tap 'Continue as Reviewer' for instant demo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